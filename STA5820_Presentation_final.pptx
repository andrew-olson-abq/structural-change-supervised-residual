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45"/>
    <p:restoredTop sz="94658"/>
  </p:normalViewPr>
  <p:slideViewPr>
    <p:cSldViewPr snapToGrid="0">
      <p:cViewPr varScale="1">
        <p:scale>
          <a:sx n="99" d="100"/>
          <a:sy n="99" d="100"/>
        </p:scale>
        <p:origin x="184" y="6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FF49AB-7649-654B-AB4F-5A3A127B393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EEB7F0-77CD-A844-B284-291DF2680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975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B7F0-77CD-A844-B284-291DF2680A9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267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EF738-91F7-32C3-1ED4-3288FA9C65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49682A-1A34-0E28-0850-3DB24203A0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8B128-A564-DC25-362C-488CF608B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EFC3-B387-FC4B-B642-7D3C02CB8360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33C05-478F-4875-2332-333009336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0E7BC-BEAC-987D-BDF1-AAFB9C4BF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B7A18-CE60-A241-AE91-C62AD809D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534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4D1CA-6FEE-8E53-6439-700267A80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BE66F-31A3-26D9-03C7-25DA3DECC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A06FB-3E24-5F57-0041-B27CAB4F4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EFC3-B387-FC4B-B642-7D3C02CB8360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79956-E6D8-2CE4-2331-65E50D0F5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1DC88-4C1D-0867-177A-E66B434F4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B7A18-CE60-A241-AE91-C62AD809D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550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B6932-5A3C-448B-1A5B-27F9ACD6C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FA4588-2AC3-89C3-E6E6-6CBF32D0D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8F987-AE39-96DB-B5F7-DDB52A403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EFC3-B387-FC4B-B642-7D3C02CB8360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AEB2A-266C-36DA-7101-94CF31469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322C5-E438-B201-F920-88D34E327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B7A18-CE60-A241-AE91-C62AD809D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009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68CBF-F0F7-D6BA-21D3-1E8007044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BD6F2-D449-BE56-331E-12D4959678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CED8D6-FD46-49D3-0AA4-BEE098AB0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1511A-D3DE-AEDD-E265-1324BA0A0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EFC3-B387-FC4B-B642-7D3C02CB8360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121810-87A0-86BB-C7A1-9EA7792F9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F7157-1171-1487-ED05-9E3A174AE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B7A18-CE60-A241-AE91-C62AD809D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374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A976C-0CD1-09D7-C5A1-A0638A042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3A043-CD5C-2CAD-F3D3-A1A75ABA9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1E770F-8B26-2C64-B7D7-78E9E29D93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8AB4C8-70E8-B946-DBCF-34D1805FBD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87A647-7DD0-1C30-F68E-12A083437F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2E300F-48E7-4504-5302-4C2A89C0A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EFC3-B387-FC4B-B642-7D3C02CB8360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B0664C-3FAB-7C66-8FF0-1E2388B77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F3F2F8-DA95-277A-450A-9BB34B59B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B7A18-CE60-A241-AE91-C62AD809D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825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9CFFC-9C76-159A-2CDC-2E6C0A630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5C6414-64D6-3A73-3090-B263BB81C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EFC3-B387-FC4B-B642-7D3C02CB8360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DCF3DB-473E-732A-064A-94A6AF3F9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401335-B893-1472-B836-D802EC61D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B7A18-CE60-A241-AE91-C62AD809D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450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BB1D99-3CC4-63C9-AD5A-8470512E2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EFC3-B387-FC4B-B642-7D3C02CB8360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A8E106-7D03-3F82-EF72-45E2F882A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91537-44D7-6C20-AC68-4E1007A11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B7A18-CE60-A241-AE91-C62AD809D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77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27040-8A56-A618-C71C-422A0B89F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3D129-D296-16B8-2793-2C40A45D1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321DC4-4FED-1B9C-EFA6-BF62146C69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02A18-89D1-F4DE-1206-FD395FCA0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EFC3-B387-FC4B-B642-7D3C02CB8360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E6D90-2918-5654-FC19-91E893DB7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DBDDE-F212-34B0-B62F-DB16A3F62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B7A18-CE60-A241-AE91-C62AD809D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790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D96A8-8FAA-CFDD-8C35-743CE4B78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373979-9AA4-D5C7-974A-303D7768CD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AA63F7-8FC5-266E-E60A-9FB5E631CA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A6D6CA-7320-6C85-AF59-9DD22DAE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EFC3-B387-FC4B-B642-7D3C02CB8360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5D44A9-5489-0052-2A19-5F4086B83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3B534-BDAC-D03D-5941-309DCFC42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B7A18-CE60-A241-AE91-C62AD809D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500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13999-3062-FFAB-DD6D-71752DDA7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43F93-F28F-A8E9-9B49-F645FAE1FE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B4714-C5C0-AACB-8AD9-94F868709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EFC3-B387-FC4B-B642-7D3C02CB8360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5BB65-534D-DEFE-58BE-B5DB926C5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9DC38-F1B9-58DB-A8B4-4440B0A24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B7A18-CE60-A241-AE91-C62AD809D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255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855053-3DB7-B51C-9504-1F40B50F00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BA4E4B-0FC4-7DAC-47BB-E2C896D6F4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71DBA-DD77-0BCE-D9A4-F5EB93B58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EFC3-B387-FC4B-B642-7D3C02CB8360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4FAB4-F17F-69B3-6A56-303C9DD8A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F8A81-C49F-32A1-A36A-813E5461F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B7A18-CE60-A241-AE91-C62AD809D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448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A35C8F-5288-FC89-8189-473E82A97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75D6C-1104-2C0A-2300-CB26F20A4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51CB7-C03C-3334-88F2-FD338C0D1D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9EEFC3-B387-FC4B-B642-7D3C02CB8360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71FCD-D474-7C15-43F9-B2CDCA42C9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ED532-8627-FB9B-1403-AF9F5A79FE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4B7A18-CE60-A241-AE91-C62AD809D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193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36C8EB-626B-0F17-69FE-D0D2C0CF3240}"/>
              </a:ext>
            </a:extLst>
          </p:cNvPr>
          <p:cNvSpPr/>
          <p:nvPr/>
        </p:nvSpPr>
        <p:spPr>
          <a:xfrm>
            <a:off x="368300" y="317500"/>
            <a:ext cx="11455400" cy="2501900"/>
          </a:xfrm>
          <a:prstGeom prst="rect">
            <a:avLst/>
          </a:prstGeom>
          <a:solidFill>
            <a:schemeClr val="bg2"/>
          </a:solidFill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979331-F3CF-BD2E-FC19-389CFF8E22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164" y="772318"/>
            <a:ext cx="10497671" cy="1655763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400" b="1" dirty="0"/>
              <a:t>Structural Change Detection Using Supervised Learning Residuals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BE3823-5BB0-8C61-8292-F72C86B136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38601"/>
            <a:ext cx="9144000" cy="1655762"/>
          </a:xfrm>
        </p:spPr>
        <p:txBody>
          <a:bodyPr>
            <a:normAutofit/>
          </a:bodyPr>
          <a:lstStyle/>
          <a:p>
            <a:r>
              <a:rPr lang="en-US" sz="2200" b="1" dirty="0"/>
              <a:t>By Andrew Olson</a:t>
            </a:r>
          </a:p>
          <a:p>
            <a:r>
              <a:rPr lang="en-US" sz="2000" dirty="0"/>
              <a:t>STAT 5080 Project</a:t>
            </a:r>
          </a:p>
          <a:p>
            <a:r>
              <a:rPr lang="en-US" sz="2000" dirty="0"/>
              <a:t>Professor: Dr. Yan Wang</a:t>
            </a:r>
          </a:p>
          <a:p>
            <a:r>
              <a:rPr lang="en-US" sz="2000" dirty="0"/>
              <a:t> Spring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303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4C749-45B2-5701-6D02-8544E36E6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b="1" dirty="0"/>
              <a:t>Project Question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8186D1F-7BD8-6482-E8D1-D896C50B710B}"/>
                  </a:ext>
                </a:extLst>
              </p:cNvPr>
              <p:cNvSpPr txBox="1"/>
              <p:nvPr/>
            </p:nvSpPr>
            <p:spPr>
              <a:xfrm>
                <a:off x="838200" y="3015000"/>
                <a:ext cx="10515600" cy="35579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Train on data from one mechanism</a:t>
                </a:r>
              </a:p>
              <a:p>
                <a:pPr marL="800100" lvl="1" indent="-342900">
                  <a:buFont typeface="Wingdings" pitchFamily="2" charset="2"/>
                  <a:buChar char="Ø"/>
                </a:pPr>
                <a:r>
                  <a:rPr lang="en-US" sz="2200" dirty="0"/>
                  <a:t>Original (X, Y) relationship</a:t>
                </a:r>
              </a:p>
              <a:p>
                <a:endParaRPr lang="en-US" sz="2200" dirty="0"/>
              </a:p>
              <a:p>
                <a:endParaRPr lang="en-US" sz="2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I intentionally introduced a structural change</a:t>
                </a:r>
              </a:p>
              <a:p>
                <a:pPr marL="914400" lvl="1" indent="-457200">
                  <a:buFont typeface="Wingdings" pitchFamily="2" charset="2"/>
                  <a:buChar char="Ø"/>
                </a:pPr>
                <a:r>
                  <a:rPr lang="en-US" sz="2200" dirty="0"/>
                  <a:t>The old model may no longer fit well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Check whether residuals increase</a:t>
                </a:r>
              </a:p>
              <a:p>
                <a:pPr marL="800100" lvl="1" indent="-342900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ar-AE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− </m:t>
                        </m:r>
                        <m:acc>
                          <m:accPr>
                            <m:chr m:val="̂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acc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 magnitude of prediction error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8186D1F-7BD8-6482-E8D1-D896C50B71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015000"/>
                <a:ext cx="10515600" cy="3557962"/>
              </a:xfrm>
              <a:prstGeom prst="rect">
                <a:avLst/>
              </a:prstGeom>
              <a:blipFill>
                <a:blip r:embed="rId2"/>
                <a:stretch>
                  <a:fillRect l="-724" t="-1068" b="-21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EAAE9BB-BEE2-BFE1-2FDF-3BE1725130D9}"/>
              </a:ext>
            </a:extLst>
          </p:cNvPr>
          <p:cNvSpPr txBox="1"/>
          <p:nvPr/>
        </p:nvSpPr>
        <p:spPr>
          <a:xfrm>
            <a:off x="838200" y="1761241"/>
            <a:ext cx="7550888" cy="738664"/>
          </a:xfrm>
          <a:prstGeom prst="rect">
            <a:avLst/>
          </a:prstGeom>
          <a:solidFill>
            <a:schemeClr val="bg2"/>
          </a:solidFill>
        </p:spPr>
        <p:txBody>
          <a:bodyPr wrap="square" lIns="365760" tIns="182880" rIns="365760" bIns="182880" rtlCol="0" anchor="ctr">
            <a:spAutoFit/>
          </a:bodyPr>
          <a:lstStyle/>
          <a:p>
            <a:r>
              <a:rPr lang="en-US" sz="2400" b="1" dirty="0"/>
              <a:t>Can prediction errors reveal a structural change?</a:t>
            </a:r>
          </a:p>
        </p:txBody>
      </p:sp>
    </p:spTree>
    <p:extLst>
      <p:ext uri="{BB962C8B-B14F-4D97-AF65-F5344CB8AC3E}">
        <p14:creationId xmlns:p14="http://schemas.microsoft.com/office/powerpoint/2010/main" val="411320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4EC68-30D6-E847-CE87-16D0F4BC4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 dirty="0"/>
              <a:t>Supervised Learning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6202F-7434-6138-7B4A-8EB3ABE21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960" y="1899038"/>
            <a:ext cx="5975232" cy="4593837"/>
          </a:xfrm>
        </p:spPr>
        <p:txBody>
          <a:bodyPr>
            <a:normAutofit/>
          </a:bodyPr>
          <a:lstStyle/>
          <a:p>
            <a:r>
              <a:rPr lang="en-US" sz="2400" dirty="0"/>
              <a:t>Goal: Use features X to predict a response Y</a:t>
            </a:r>
            <a:endParaRPr lang="en-US" dirty="0"/>
          </a:p>
          <a:p>
            <a:endParaRPr lang="en-US" sz="2400" dirty="0"/>
          </a:p>
          <a:p>
            <a:r>
              <a:rPr lang="en-US" sz="2400" dirty="0"/>
              <a:t>Choose a model class then learn a predictor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Calculate prediction quality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Larger residuals may indicate structural change</a:t>
            </a:r>
          </a:p>
          <a:p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6EE7D8-B805-13F0-A4A9-0E75D7381007}"/>
                  </a:ext>
                </a:extLst>
              </p:cNvPr>
              <p:cNvSpPr txBox="1"/>
              <p:nvPr/>
            </p:nvSpPr>
            <p:spPr>
              <a:xfrm>
                <a:off x="7574429" y="1690688"/>
                <a:ext cx="4289611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endParaRPr lang="en-GB" sz="3200" i="1" dirty="0">
                  <a:latin typeface="Cambria Math" panose="02040503050406030204" pitchFamily="18" charset="0"/>
                </a:endParaRPr>
              </a:p>
              <a:p>
                <a:pPr/>
                <a:endParaRPr lang="en-GB" sz="3200" i="1" dirty="0">
                  <a:latin typeface="Cambria Math" panose="02040503050406030204" pitchFamily="18" charset="0"/>
                </a:endParaRPr>
              </a:p>
              <a:p>
                <a:pPr/>
                <a:endParaRPr lang="en-GB" sz="32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endParaRPr lang="en-US" sz="32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ar-AE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3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acc>
                            <m:accPr>
                              <m:chr m:val="̂"/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acc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ar-AE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6EE7D8-B805-13F0-A4A9-0E75D7381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4429" y="1690688"/>
                <a:ext cx="4289611" cy="3416320"/>
              </a:xfrm>
              <a:prstGeom prst="rect">
                <a:avLst/>
              </a:prstGeom>
              <a:blipFill>
                <a:blip r:embed="rId2"/>
                <a:stretch>
                  <a:fillRect b="-2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Arrow 5">
            <a:extLst>
              <a:ext uri="{FF2B5EF4-FFF2-40B4-BE49-F238E27FC236}">
                <a16:creationId xmlns:a16="http://schemas.microsoft.com/office/drawing/2014/main" id="{DA9BB678-E1C6-9662-871B-9C00478E2D18}"/>
              </a:ext>
            </a:extLst>
          </p:cNvPr>
          <p:cNvSpPr/>
          <p:nvPr/>
        </p:nvSpPr>
        <p:spPr>
          <a:xfrm>
            <a:off x="6398505" y="3408748"/>
            <a:ext cx="1924594" cy="1125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DF299E-E9D5-4C3A-57AA-0C1A8B9530F1}"/>
              </a:ext>
            </a:extLst>
          </p:cNvPr>
          <p:cNvSpPr txBox="1"/>
          <p:nvPr/>
        </p:nvSpPr>
        <p:spPr>
          <a:xfrm>
            <a:off x="6354473" y="3157920"/>
            <a:ext cx="19943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Learned predictor</a:t>
            </a:r>
          </a:p>
          <a:p>
            <a:endParaRPr lang="en-US" dirty="0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59846D5D-1FDD-0134-999D-331578C7514B}"/>
              </a:ext>
            </a:extLst>
          </p:cNvPr>
          <p:cNvSpPr/>
          <p:nvPr/>
        </p:nvSpPr>
        <p:spPr>
          <a:xfrm>
            <a:off x="6398505" y="4699356"/>
            <a:ext cx="1924593" cy="1393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9C6F83-8F70-225A-ABC7-E453151B1905}"/>
              </a:ext>
            </a:extLst>
          </p:cNvPr>
          <p:cNvSpPr txBox="1"/>
          <p:nvPr/>
        </p:nvSpPr>
        <p:spPr>
          <a:xfrm>
            <a:off x="6402608" y="4452501"/>
            <a:ext cx="1920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Absolute residual</a:t>
            </a:r>
          </a:p>
        </p:txBody>
      </p:sp>
    </p:spTree>
    <p:extLst>
      <p:ext uri="{BB962C8B-B14F-4D97-AF65-F5344CB8AC3E}">
        <p14:creationId xmlns:p14="http://schemas.microsoft.com/office/powerpoint/2010/main" val="1633317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10" grpId="0" animBg="1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3E499-5FE7-9BC1-8838-1199DDDA8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Data Construction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76944B-5254-6B33-EC65-3092E64E2D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4052" y="1690688"/>
                <a:ext cx="5779780" cy="384948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000" dirty="0"/>
                  <a:t>Start with the real R dataset ‘</a:t>
                </a:r>
                <a:r>
                  <a:rPr lang="en-US" sz="2000" dirty="0" err="1"/>
                  <a:t>airquality</a:t>
                </a:r>
                <a:r>
                  <a:rPr lang="en-US" sz="2000" dirty="0"/>
                  <a:t>’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r>
                  <a:rPr lang="en-US" sz="2000" dirty="0"/>
                  <a:t>Response in real data: </a:t>
                </a:r>
                <a:r>
                  <a:rPr lang="en-US" sz="2000" i="1" dirty="0"/>
                  <a:t>Ozone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Predictors: </a:t>
                </a:r>
                <a:r>
                  <a:rPr lang="en-US" sz="2000" i="1" dirty="0" err="1"/>
                  <a:t>Solar.R</a:t>
                </a:r>
                <a:r>
                  <a:rPr lang="en-US" sz="2000" i="1" dirty="0"/>
                  <a:t>, Wind, Temp, Month, and Day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r>
                  <a:rPr lang="en-US" sz="2000" dirty="0"/>
                  <a:t>Learn a regression function f from the real data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𝐸𝑥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. . .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457200" lvl="1" indent="0">
                  <a:buNone/>
                </a:pPr>
                <a:r>
                  <a:rPr lang="en-US" sz="2000" dirty="0"/>
                  <a:t> </a:t>
                </a:r>
              </a:p>
              <a:p>
                <a:r>
                  <a:rPr lang="en-US" sz="2000" dirty="0"/>
                  <a:t>Generate new data with a known change point at t = 1000</a:t>
                </a:r>
              </a:p>
              <a:p>
                <a:endParaRPr lang="en-US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76944B-5254-6B33-EC65-3092E64E2D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4052" y="1690688"/>
                <a:ext cx="5779780" cy="3849488"/>
              </a:xfrm>
              <a:blipFill>
                <a:blip r:embed="rId3"/>
                <a:stretch>
                  <a:fillRect l="-1096" t="-1967" r="-439"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Arrow 5">
            <a:extLst>
              <a:ext uri="{FF2B5EF4-FFF2-40B4-BE49-F238E27FC236}">
                <a16:creationId xmlns:a16="http://schemas.microsoft.com/office/drawing/2014/main" id="{57B5F4D6-1103-3594-8CDD-44F797BB61EB}"/>
              </a:ext>
            </a:extLst>
          </p:cNvPr>
          <p:cNvSpPr/>
          <p:nvPr/>
        </p:nvSpPr>
        <p:spPr>
          <a:xfrm>
            <a:off x="6699556" y="1854555"/>
            <a:ext cx="978408" cy="1168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8709105-0DD2-5D0A-D999-64150CFB5595}"/>
                  </a:ext>
                </a:extLst>
              </p:cNvPr>
              <p:cNvSpPr txBox="1"/>
              <p:nvPr/>
            </p:nvSpPr>
            <p:spPr>
              <a:xfrm>
                <a:off x="8239695" y="1616970"/>
                <a:ext cx="4165919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dirty="0"/>
                  <a:t>Unchanged mechanism:</a:t>
                </a:r>
              </a:p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  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dirty="0"/>
                      <m:t>≤</m:t>
                    </m:r>
                    <m:r>
                      <m:rPr>
                        <m:nor/>
                      </m:rPr>
                      <a:rPr lang="en-US" b="0" i="0" dirty="0" smtClean="0"/>
                      <m:t> 1000</m:t>
                    </m:r>
                  </m:oMath>
                </a14:m>
                <a:r>
                  <a:rPr lang="en-US" dirty="0"/>
                  <a:t> </a:t>
                </a:r>
              </a:p>
              <a:p>
                <a:pPr/>
                <a:endParaRPr lang="en-US" dirty="0"/>
              </a:p>
              <a:p>
                <a:pPr/>
                <a:endParaRPr lang="en-US" dirty="0"/>
              </a:p>
              <a:p>
                <a:pPr/>
                <a:endParaRPr lang="en-US" dirty="0"/>
              </a:p>
              <a:p>
                <a:pPr/>
                <a:endParaRPr lang="en-US" dirty="0"/>
              </a:p>
              <a:p>
                <a:pPr/>
                <a:endParaRPr lang="en-US" dirty="0"/>
              </a:p>
              <a:p>
                <a:pPr/>
                <a:endParaRPr lang="en-US" dirty="0"/>
              </a:p>
              <a:p>
                <a:pPr/>
                <a:endParaRPr lang="en-US" dirty="0"/>
              </a:p>
              <a:p>
                <a:pPr/>
                <a:endParaRPr lang="en-US" dirty="0"/>
              </a:p>
              <a:p>
                <a:pPr/>
                <a:endParaRPr lang="en-US" dirty="0"/>
              </a:p>
              <a:p>
                <a:pPr/>
                <a:endParaRPr lang="en-US" dirty="0"/>
              </a:p>
              <a:p>
                <a:pPr/>
                <a:r>
                  <a:rPr lang="en-US" dirty="0"/>
                  <a:t>Changed mechanism: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&gt;1000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,  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where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𝑐h𝑎𝑛𝑔𝑒</m:t>
                    </m:r>
                  </m:oMath>
                </a14:m>
                <a:endParaRPr lang="en-US" dirty="0"/>
              </a:p>
              <a:p>
                <a:pPr/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8709105-0DD2-5D0A-D999-64150CFB5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9695" y="1616970"/>
                <a:ext cx="4165919" cy="4524315"/>
              </a:xfrm>
              <a:prstGeom prst="rect">
                <a:avLst/>
              </a:prstGeom>
              <a:blipFill>
                <a:blip r:embed="rId4"/>
                <a:stretch>
                  <a:fillRect l="-1216" t="-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ight Arrow 10">
            <a:extLst>
              <a:ext uri="{FF2B5EF4-FFF2-40B4-BE49-F238E27FC236}">
                <a16:creationId xmlns:a16="http://schemas.microsoft.com/office/drawing/2014/main" id="{4BB53B7D-35E2-141A-C2B1-937E0937FB73}"/>
              </a:ext>
            </a:extLst>
          </p:cNvPr>
          <p:cNvSpPr/>
          <p:nvPr/>
        </p:nvSpPr>
        <p:spPr>
          <a:xfrm>
            <a:off x="6699556" y="5175157"/>
            <a:ext cx="978408" cy="1168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849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18769-3474-63B3-D0D6-30E38365F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Learning the Baseline Function</a:t>
            </a:r>
          </a:p>
        </p:txBody>
      </p:sp>
      <p:pic>
        <p:nvPicPr>
          <p:cNvPr id="5" name="Content Placeholder 4" descr="A graph of a graph showing the difference between oxygen and oxygen&#10;&#10;AI-generated content may be incorrect.">
            <a:extLst>
              <a:ext uri="{FF2B5EF4-FFF2-40B4-BE49-F238E27FC236}">
                <a16:creationId xmlns:a16="http://schemas.microsoft.com/office/drawing/2014/main" id="{1A06C07C-3E3E-6F97-7767-497E27EAA1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51188" y="1690688"/>
            <a:ext cx="5801784" cy="435133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68095F-40C8-239D-3A4D-6E4F7AF40003}"/>
              </a:ext>
            </a:extLst>
          </p:cNvPr>
          <p:cNvSpPr txBox="1"/>
          <p:nvPr/>
        </p:nvSpPr>
        <p:spPr>
          <a:xfrm>
            <a:off x="838200" y="1895854"/>
            <a:ext cx="471259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Cleaned </a:t>
            </a:r>
            <a:r>
              <a:rPr lang="en-US" sz="2400" dirty="0" err="1"/>
              <a:t>airquality</a:t>
            </a:r>
            <a:r>
              <a:rPr lang="en-US" sz="2400" dirty="0"/>
              <a:t> dataset: 111 observations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Model: linear regression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Adjusted R^2 = 0.607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US" sz="2400" dirty="0"/>
              <a:t>61% of ozone explained</a:t>
            </a:r>
          </a:p>
          <a:p>
            <a:pPr lvl="1"/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Fitted model becomes the baseline function </a:t>
            </a:r>
            <a:r>
              <a:rPr lang="en-US" sz="2400" i="1" dirty="0"/>
              <a:t>f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5A15ED-92B0-F8D2-EB01-DE444662F891}"/>
              </a:ext>
            </a:extLst>
          </p:cNvPr>
          <p:cNvSpPr txBox="1"/>
          <p:nvPr/>
        </p:nvSpPr>
        <p:spPr>
          <a:xfrm>
            <a:off x="1056068" y="6308209"/>
            <a:ext cx="1029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*f(x) = -64.12 + 0.0503 × </a:t>
            </a:r>
            <a:r>
              <a:rPr lang="en-GB" dirty="0" err="1"/>
              <a:t>Solar.R</a:t>
            </a:r>
            <a:r>
              <a:rPr lang="en-GB" dirty="0"/>
              <a:t> - 3.32 × Wind + 1.90 × Temp - 3.04 × Month + 0.27 × Day.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062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9EF63-FEF9-B2E9-D978-2C9A08FAE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Constructing a Known Change Point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2187E-54DE-F00E-B42B-E231FA7A0E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52578"/>
                <a:ext cx="3386071" cy="53482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2187E-54DE-F00E-B42B-E231FA7A0E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52578"/>
                <a:ext cx="3386071" cy="534822"/>
              </a:xfrm>
              <a:blipFill>
                <a:blip r:embed="rId2"/>
                <a:stretch>
                  <a:fillRect l="-7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C0E3A26-554F-5123-8B8C-60FD8273AC58}"/>
              </a:ext>
            </a:extLst>
          </p:cNvPr>
          <p:cNvSpPr txBox="1"/>
          <p:nvPr/>
        </p:nvSpPr>
        <p:spPr>
          <a:xfrm>
            <a:off x="766829" y="3181082"/>
            <a:ext cx="1065834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Use the fitted model </a:t>
            </a:r>
            <a:r>
              <a:rPr lang="en-US" sz="2400" i="1" dirty="0"/>
              <a:t>f</a:t>
            </a:r>
            <a:r>
              <a:rPr lang="en-US" sz="2400" dirty="0"/>
              <a:t> as the baseline relationship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Generate 2000 observations with known change point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After t = 1000, replace f with our modified function g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Finally, check whether prediction errors increase after the change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5816606-0D96-AA05-F4E2-E4C5D496F9B6}"/>
                  </a:ext>
                </a:extLst>
              </p:cNvPr>
              <p:cNvSpPr txBox="1"/>
              <p:nvPr/>
            </p:nvSpPr>
            <p:spPr>
              <a:xfrm>
                <a:off x="7624293" y="1646989"/>
                <a:ext cx="396562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&gt;1000</m:t>
                      </m:r>
                    </m:oMath>
                  </m:oMathPara>
                </a14:m>
                <a:endParaRPr lang="en-US" dirty="0"/>
              </a:p>
              <a:p>
                <a:pPr/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15(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𝑇𝑒𝑚𝑝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𝑠𝑡𝑑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5816606-0D96-AA05-F4E2-E4C5D496F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293" y="1646989"/>
                <a:ext cx="3965621" cy="923330"/>
              </a:xfrm>
              <a:prstGeom prst="rect">
                <a:avLst/>
              </a:prstGeom>
              <a:blipFill>
                <a:blip r:embed="rId3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0720CBC-FB3C-6AD6-9602-46D0CCDF55E8}"/>
                  </a:ext>
                </a:extLst>
              </p:cNvPr>
              <p:cNvSpPr txBox="1"/>
              <p:nvPr/>
            </p:nvSpPr>
            <p:spPr>
              <a:xfrm>
                <a:off x="3078051" y="1915512"/>
                <a:ext cx="32454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≤1000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0720CBC-FB3C-6AD6-9602-46D0CCDF5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8051" y="1915512"/>
                <a:ext cx="3245476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ight Arrow 10">
            <a:extLst>
              <a:ext uri="{FF2B5EF4-FFF2-40B4-BE49-F238E27FC236}">
                <a16:creationId xmlns:a16="http://schemas.microsoft.com/office/drawing/2014/main" id="{D82D07FD-B6D4-D64C-4F4D-E4A75BA38052}"/>
              </a:ext>
            </a:extLst>
          </p:cNvPr>
          <p:cNvSpPr/>
          <p:nvPr/>
        </p:nvSpPr>
        <p:spPr>
          <a:xfrm>
            <a:off x="1777285" y="2065048"/>
            <a:ext cx="978408" cy="986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25C12D4D-74E8-3BA7-F11A-B7960EC997CE}"/>
              </a:ext>
            </a:extLst>
          </p:cNvPr>
          <p:cNvSpPr/>
          <p:nvPr/>
        </p:nvSpPr>
        <p:spPr>
          <a:xfrm>
            <a:off x="6323527" y="2027333"/>
            <a:ext cx="978408" cy="986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10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82A1C-C248-3FD3-E37A-0858C09E0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Residuals Before and After the Change Point</a:t>
            </a:r>
          </a:p>
        </p:txBody>
      </p:sp>
      <p:pic>
        <p:nvPicPr>
          <p:cNvPr id="9" name="Content Placeholder 8" descr="A diagram of a comparison of a comparison of a comparison of a comparison of a comparison of a comparison of a comparison of a comparison of a comparison of a comparison of a comparison of a comparison of&#10;&#10;AI-generated content may be incorrect.">
            <a:extLst>
              <a:ext uri="{FF2B5EF4-FFF2-40B4-BE49-F238E27FC236}">
                <a16:creationId xmlns:a16="http://schemas.microsoft.com/office/drawing/2014/main" id="{AC903E1C-59A1-EEC2-C865-07A502D7DC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1690688"/>
            <a:ext cx="6091873" cy="4351338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076D62A-4D2A-5A2F-2EB6-14EDC1E32BBA}"/>
                  </a:ext>
                </a:extLst>
              </p:cNvPr>
              <p:cNvSpPr txBox="1"/>
              <p:nvPr/>
            </p:nvSpPr>
            <p:spPr>
              <a:xfrm>
                <a:off x="695459" y="1584101"/>
                <a:ext cx="5306096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Calculate residuals for all 2000 observations</a:t>
                </a:r>
              </a:p>
              <a:p>
                <a:endParaRPr lang="en-US" sz="2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We can see changes when calculating</a:t>
                </a:r>
              </a:p>
              <a:p>
                <a:pPr marL="800100" lvl="1" indent="-342900">
                  <a:buFont typeface="Wingdings" pitchFamily="2" charset="2"/>
                  <a:buChar char="Ø"/>
                </a:pPr>
                <a:r>
                  <a:rPr lang="en-US" sz="2200" dirty="0"/>
                  <a:t>Higher center and greater spread</a:t>
                </a:r>
              </a:p>
              <a:p>
                <a:pPr marL="800100" lvl="1" indent="-342900">
                  <a:buFont typeface="Wingdings" pitchFamily="2" charset="2"/>
                  <a:buChar char="Ø"/>
                </a:pPr>
                <a:r>
                  <a:rPr lang="en-US" sz="2200" dirty="0"/>
                  <a:t>Predicting ozone becomes less accurate</a:t>
                </a:r>
              </a:p>
              <a:p>
                <a:pPr lvl="1"/>
                <a:endParaRPr lang="en-US" sz="2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Mean increased from 7.89            18.06</a:t>
                </a:r>
              </a:p>
              <a:p>
                <a:pPr marL="800100" lvl="1" indent="-342900">
                  <a:buFont typeface="Wingdings" pitchFamily="2" charset="2"/>
                  <a:buChar char="Ø"/>
                </a:pPr>
                <a:r>
                  <a:rPr lang="en-US" sz="2200" dirty="0"/>
                  <a:t>Welch: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&lt;2.2⨯ 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−16</m:t>
                        </m:r>
                      </m:sup>
                    </m:sSup>
                  </m:oMath>
                </a14:m>
                <a:endParaRPr lang="en-US" sz="2200" dirty="0"/>
              </a:p>
              <a:p>
                <a:endParaRPr lang="en-US" sz="220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076D62A-4D2A-5A2F-2EB6-14EDC1E32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59" y="1584101"/>
                <a:ext cx="5306096" cy="4093428"/>
              </a:xfrm>
              <a:prstGeom prst="rect">
                <a:avLst/>
              </a:prstGeom>
              <a:blipFill>
                <a:blip r:embed="rId3"/>
                <a:stretch>
                  <a:fillRect l="-1193" t="-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85A9FA2-1E70-1D3A-EB2B-D1BB4142F261}"/>
              </a:ext>
            </a:extLst>
          </p:cNvPr>
          <p:cNvCxnSpPr>
            <a:cxnSpLocks/>
          </p:cNvCxnSpPr>
          <p:nvPr/>
        </p:nvCxnSpPr>
        <p:spPr>
          <a:xfrm>
            <a:off x="4365938" y="4468968"/>
            <a:ext cx="3606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1469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74ECE-0759-5337-F014-26B99EA25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Model Comparison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65F53A-3638-257D-1A45-9EFFE203A473}"/>
              </a:ext>
            </a:extLst>
          </p:cNvPr>
          <p:cNvSpPr txBox="1"/>
          <p:nvPr/>
        </p:nvSpPr>
        <p:spPr>
          <a:xfrm>
            <a:off x="643944" y="1854558"/>
            <a:ext cx="509142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Fit two models on the unchanged period</a:t>
            </a:r>
          </a:p>
          <a:p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LR is simple and interpretable</a:t>
            </a:r>
          </a:p>
          <a:p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RF is more flexible</a:t>
            </a:r>
          </a:p>
          <a:p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Both show a similar increase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sz="2200" dirty="0"/>
              <a:t>LR: 10.17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sz="2200" dirty="0"/>
              <a:t>RF: 10.69</a:t>
            </a:r>
          </a:p>
        </p:txBody>
      </p:sp>
      <p:pic>
        <p:nvPicPr>
          <p:cNvPr id="23" name="Content Placeholder 22" descr="A graph of a graph&#10;&#10;AI-generated content may be incorrect.">
            <a:extLst>
              <a:ext uri="{FF2B5EF4-FFF2-40B4-BE49-F238E27FC236}">
                <a16:creationId xmlns:a16="http://schemas.microsoft.com/office/drawing/2014/main" id="{DB7ED07C-F84E-B78A-A94A-661F4C06C9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35372" y="1854558"/>
            <a:ext cx="6456628" cy="3738048"/>
          </a:xfrm>
        </p:spPr>
      </p:pic>
    </p:spTree>
    <p:extLst>
      <p:ext uri="{BB962C8B-B14F-4D97-AF65-F5344CB8AC3E}">
        <p14:creationId xmlns:p14="http://schemas.microsoft.com/office/powerpoint/2010/main" val="1492376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DB850-A907-C9E9-C9A8-250E1E09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Sensitivity to a Greater Structural Change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A109E9-5625-99A7-7637-3AC2130894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25555" y="1967293"/>
            <a:ext cx="6666445" cy="4166529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52F2851-27E6-BE6D-519F-22638DD00AF7}"/>
                  </a:ext>
                </a:extLst>
              </p:cNvPr>
              <p:cNvSpPr txBox="1"/>
              <p:nvPr/>
            </p:nvSpPr>
            <p:spPr>
              <a:xfrm>
                <a:off x="657340" y="2687972"/>
                <a:ext cx="4597758" cy="27251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Cambria Math" panose="02040503050406030204" pitchFamily="18" charset="0"/>
                  </a:rPr>
                  <a:t>We see an increasing relationship</a:t>
                </a:r>
              </a:p>
              <a:p>
                <a:pPr marL="800100" lvl="1" indent="-342900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↑</m:t>
                    </m:r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⇒      </m:t>
                    </m:r>
                    <m:d>
                      <m:dPr>
                        <m:begChr m:val="|"/>
                        <m:endChr m:val="|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−</m:t>
                        </m:r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Prediction errors become larger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52F2851-27E6-BE6D-519F-22638DD00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340" y="2687972"/>
                <a:ext cx="4597758" cy="2725170"/>
              </a:xfrm>
              <a:prstGeom prst="rect">
                <a:avLst/>
              </a:prstGeom>
              <a:blipFill>
                <a:blip r:embed="rId3"/>
                <a:stretch>
                  <a:fillRect l="-1653" t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4305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E56BF-D65F-5858-7B79-6FAA46E6A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288BD-72A1-3144-E5BB-FA41923EE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learned a baseline function </a:t>
            </a:r>
            <a:r>
              <a:rPr lang="en-US" i="1" dirty="0"/>
              <a:t>f</a:t>
            </a:r>
            <a:r>
              <a:rPr lang="en-US" dirty="0"/>
              <a:t> from real air quality data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Checked the model will detect a structural change</a:t>
            </a: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r>
              <a:rPr lang="en-US" dirty="0"/>
              <a:t>Takeaway: we now have a model for future analysis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Future work: run this model on future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491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2856</TotalTime>
  <Words>479</Words>
  <Application>Microsoft Macintosh PowerPoint</Application>
  <PresentationFormat>Widescreen</PresentationFormat>
  <Paragraphs>116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Wingdings</vt:lpstr>
      <vt:lpstr>Office Theme</vt:lpstr>
      <vt:lpstr>Structural Change Detection Using Supervised Learning Residuals</vt:lpstr>
      <vt:lpstr>Project Question</vt:lpstr>
      <vt:lpstr>Supervised Learning Framework</vt:lpstr>
      <vt:lpstr>Data Construction</vt:lpstr>
      <vt:lpstr>Learning the Baseline Function</vt:lpstr>
      <vt:lpstr>Constructing a Known Change Point</vt:lpstr>
      <vt:lpstr>Residuals Before and After the Change Point</vt:lpstr>
      <vt:lpstr>Model Comparison</vt:lpstr>
      <vt:lpstr>Sensitivity to a Greater Structural Change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olson</dc:creator>
  <cp:lastModifiedBy>andrew olson</cp:lastModifiedBy>
  <cp:revision>5</cp:revision>
  <dcterms:created xsi:type="dcterms:W3CDTF">2026-04-25T04:17:26Z</dcterms:created>
  <dcterms:modified xsi:type="dcterms:W3CDTF">2026-04-28T13:56:43Z</dcterms:modified>
</cp:coreProperties>
</file>